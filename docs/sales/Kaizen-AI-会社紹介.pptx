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Kaizen AI の会社紹介・営業資料。初回商談・紹介時に使用。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顧客の課題への共感から入る。4つの悩みのどれに当てはまるかヒアリングの入口にする。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会社の自己紹介。差別化ポイントは「自らAI経営を実践している」こと。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進め方の説明。「定着」までやること、効果を数字で示すことを強調。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7つのサービス＋自由設計。相手の課題に近いカードを指しながら説明する。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価格はレンジで提示。診断から小さく始める流れを推奨する。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バリューをそのまま顧客への約束として語る。誠実さを最後に添える。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次のアクション（無料相談）へつなげるスライド。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クロージング。無料相談への導線。お問い合わせ先は設立後に差し替えること。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33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822960"/>
            <a:ext cx="5303520" cy="5303520"/>
          </a:xfrm>
          <a:prstGeom prst="ellipse">
            <a:avLst/>
          </a:prstGeom>
          <a:solidFill>
            <a:srgbClr val="22335C"/>
          </a:solidFill>
          <a:ln w="22225">
            <a:solidFill>
              <a:srgbClr val="3A4E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58200" y="1783080"/>
            <a:ext cx="3383280" cy="3383280"/>
          </a:xfrm>
          <a:prstGeom prst="ellipse">
            <a:avLst/>
          </a:prstGeom>
          <a:solidFill>
            <a:srgbClr val="22335C"/>
          </a:solidFill>
          <a:ln w="28575">
            <a:solidFill>
              <a:srgbClr val="E854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64040" y="2788920"/>
            <a:ext cx="1371600" cy="1371600"/>
          </a:xfrm>
          <a:prstGeom prst="ellipse">
            <a:avLst/>
          </a:prstGeom>
          <a:solidFill>
            <a:srgbClr val="2C3E6B"/>
          </a:solidFill>
          <a:ln/>
        </p:spPr>
      </p:sp>
      <p:sp>
        <p:nvSpPr>
          <p:cNvPr id="5" name="Shape 3"/>
          <p:cNvSpPr/>
          <p:nvPr/>
        </p:nvSpPr>
        <p:spPr>
          <a:xfrm>
            <a:off x="11018520" y="1572768"/>
            <a:ext cx="256032" cy="256032"/>
          </a:xfrm>
          <a:prstGeom prst="ellipse">
            <a:avLst/>
          </a:prstGeom>
          <a:solidFill>
            <a:srgbClr val="C9D8E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594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9D8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会社紹介・サービスのご案内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182880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Kaizen AI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85800" y="3063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8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AIで、日本の現場に “改善” を。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7947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8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AIを駆使した業務効率化コンサルティング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035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E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2026年8月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こんなお悩みはありませんか？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AI活用が進む一方で、現場ではこんな声をよく伺います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31536" cy="1783080"/>
          </a:xfrm>
          <a:prstGeom prst="roundRect">
            <a:avLst>
              <a:gd name="adj" fmla="val 4103"/>
            </a:avLst>
          </a:prstGeom>
          <a:solidFill>
            <a:srgbClr val="F4F7F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34540"/>
            <a:ext cx="640080" cy="640080"/>
          </a:xfrm>
          <a:prstGeom prst="ellipse">
            <a:avLst/>
          </a:prstGeom>
          <a:solidFill>
            <a:srgbClr val="2233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182" y="221376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10512"/>
            <a:ext cx="4059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何に使えばいいか分からない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91640" y="2331720"/>
            <a:ext cx="4059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AIが話題だが、自社の業務への活かし方が見えない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08776" y="1463040"/>
            <a:ext cx="5431536" cy="1783080"/>
          </a:xfrm>
          <a:prstGeom prst="roundRect">
            <a:avLst>
              <a:gd name="adj" fmla="val 4103"/>
            </a:avLst>
          </a:prstGeom>
          <a:solidFill>
            <a:srgbClr val="F4F7FB"/>
          </a:solidFill>
          <a:ln/>
        </p:spPr>
      </p:sp>
      <p:sp>
        <p:nvSpPr>
          <p:cNvPr id="10" name="Shape 7"/>
          <p:cNvSpPr/>
          <p:nvPr/>
        </p:nvSpPr>
        <p:spPr>
          <a:xfrm>
            <a:off x="6483096" y="2034540"/>
            <a:ext cx="640080" cy="640080"/>
          </a:xfrm>
          <a:prstGeom prst="ellipse">
            <a:avLst/>
          </a:prstGeom>
          <a:solidFill>
            <a:srgbClr val="22335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318" y="221376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51776" y="1810512"/>
            <a:ext cx="4059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ツールが定着しない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51776" y="2331720"/>
            <a:ext cx="4059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導入はしたものの、一部の人しか使っていない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474720"/>
            <a:ext cx="5431536" cy="1783080"/>
          </a:xfrm>
          <a:prstGeom prst="roundRect">
            <a:avLst>
              <a:gd name="adj" fmla="val 4103"/>
            </a:avLst>
          </a:prstGeom>
          <a:solidFill>
            <a:srgbClr val="F4F7FB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046220"/>
            <a:ext cx="640080" cy="640080"/>
          </a:xfrm>
          <a:prstGeom prst="ellipse">
            <a:avLst/>
          </a:prstGeom>
          <a:solidFill>
            <a:srgbClr val="22335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182" y="4225442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822192"/>
            <a:ext cx="4059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社内にAI人材がいない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91640" y="4343400"/>
            <a:ext cx="4059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推進役が不在で、外部への丸投げも不安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08776" y="3474720"/>
            <a:ext cx="5431536" cy="1783080"/>
          </a:xfrm>
          <a:prstGeom prst="roundRect">
            <a:avLst>
              <a:gd name="adj" fmla="val 4103"/>
            </a:avLst>
          </a:prstGeom>
          <a:solidFill>
            <a:srgbClr val="F4F7FB"/>
          </a:solidFill>
          <a:ln/>
        </p:spPr>
      </p:sp>
      <p:sp>
        <p:nvSpPr>
          <p:cNvPr id="20" name="Shape 15"/>
          <p:cNvSpPr/>
          <p:nvPr/>
        </p:nvSpPr>
        <p:spPr>
          <a:xfrm>
            <a:off x="6483096" y="4046220"/>
            <a:ext cx="640080" cy="640080"/>
          </a:xfrm>
          <a:prstGeom prst="ellipse">
            <a:avLst/>
          </a:prstGeom>
          <a:solidFill>
            <a:srgbClr val="22335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2318" y="4225442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51776" y="3822192"/>
            <a:ext cx="4059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効果が見えない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51776" y="4343400"/>
            <a:ext cx="4059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投資に見合う成果が出ているのか分からない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その悩み、</a:t>
            </a:r>
            <a:pPr indent="0" marL="0">
              <a:buNone/>
            </a:pPr>
            <a:r>
              <a:rPr lang="en-US" sz="2000" b="1" dirty="0">
                <a:solidFill>
                  <a:srgbClr val="E854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「仕組み」</a:t>
            </a:r>
            <a:pPr indent="0" marL="0">
              <a:buNone/>
            </a:pPr>
            <a:r>
              <a:rPr lang="en-US" sz="200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で解決できます。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22335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40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Kaizen AI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54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MISSION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224028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AIで、日本の現場に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“改善” を。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365760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8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業務の一つひとつにAIを組み込み、無理・無駄・ムラをなくす。継続的な改善を回し続けられる状態を、お客様とともにつくります。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6035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事業内容｜AI業務効率化コンサルティング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09160" y="4572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Kaizen AI とは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685800" cy="685800"/>
          </a:xfrm>
          <a:prstGeom prst="ellipse">
            <a:avLst/>
          </a:prstGeom>
          <a:solidFill>
            <a:srgbClr val="22335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1184" y="1609344"/>
            <a:ext cx="301752" cy="3017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23560" y="139903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一気通貫の伴走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5623560" y="1837944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診断 → 設計 → 導入 → 定着まで丸ごと支援。ツールを入れて終わり、にしません。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709160" y="2788920"/>
            <a:ext cx="685800" cy="685800"/>
          </a:xfrm>
          <a:prstGeom prst="ellipse">
            <a:avLst/>
          </a:prstGeom>
          <a:solidFill>
            <a:srgbClr val="22335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2980944"/>
            <a:ext cx="301752" cy="3017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23560" y="277063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改善が続く仕組みづくり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5623560" y="3209544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一度きりの効率化ではなく、現場が自ら改善を回し続けられる状態をゴールにします。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709160" y="4160520"/>
            <a:ext cx="685800" cy="685800"/>
          </a:xfrm>
          <a:prstGeom prst="ellipse">
            <a:avLst/>
          </a:prstGeom>
          <a:solidFill>
            <a:srgbClr val="E8543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184" y="4352544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623560" y="414223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自らも “AI経営” を実践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5623560" y="4581144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AIを経営の中枢に据えた体制で自社を運営。日々検証した実践知をそのまま提供します。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4709160" y="5806440"/>
            <a:ext cx="1316736" cy="42062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/>
        </p:spPr>
      </p:sp>
      <p:sp>
        <p:nvSpPr>
          <p:cNvPr id="22" name="Text 17"/>
          <p:cNvSpPr/>
          <p:nvPr/>
        </p:nvSpPr>
        <p:spPr>
          <a:xfrm>
            <a:off x="4709160" y="5806440"/>
            <a:ext cx="1316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現場ファースト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108192" y="5806440"/>
            <a:ext cx="1316736" cy="42062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/>
        </p:spPr>
      </p:sp>
      <p:sp>
        <p:nvSpPr>
          <p:cNvPr id="24" name="Text 19"/>
          <p:cNvSpPr/>
          <p:nvPr/>
        </p:nvSpPr>
        <p:spPr>
          <a:xfrm>
            <a:off x="6108192" y="5806440"/>
            <a:ext cx="1316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小さく速く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7507224" y="5806440"/>
            <a:ext cx="1316736" cy="42062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/>
        </p:spPr>
      </p:sp>
      <p:sp>
        <p:nvSpPr>
          <p:cNvPr id="26" name="Text 21"/>
          <p:cNvSpPr/>
          <p:nvPr/>
        </p:nvSpPr>
        <p:spPr>
          <a:xfrm>
            <a:off x="7507224" y="5806440"/>
            <a:ext cx="1316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内製化を助ける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8906256" y="5806440"/>
            <a:ext cx="1316736" cy="42062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/>
        </p:spPr>
      </p:sp>
      <p:sp>
        <p:nvSpPr>
          <p:cNvPr id="28" name="Text 23"/>
          <p:cNvSpPr/>
          <p:nvPr/>
        </p:nvSpPr>
        <p:spPr>
          <a:xfrm>
            <a:off x="8906256" y="5806440"/>
            <a:ext cx="1316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数字で語る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10305288" y="5806440"/>
            <a:ext cx="1316736" cy="42062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/>
        </p:spPr>
      </p:sp>
      <p:sp>
        <p:nvSpPr>
          <p:cNvPr id="30" name="Text 25"/>
          <p:cNvSpPr/>
          <p:nvPr/>
        </p:nvSpPr>
        <p:spPr>
          <a:xfrm>
            <a:off x="10305288" y="5806440"/>
            <a:ext cx="1316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誠実なAI活用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私たちのアプローチ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4つのステップで、“使われるAI” と “続く改善” を実現します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487168" cy="2331720"/>
          </a:xfrm>
          <a:prstGeom prst="roundRect">
            <a:avLst>
              <a:gd name="adj" fmla="val 3137"/>
            </a:avLst>
          </a:prstGeom>
          <a:solidFill>
            <a:srgbClr val="F4F7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45920"/>
            <a:ext cx="594360" cy="594360"/>
          </a:xfrm>
          <a:prstGeom prst="ellipse">
            <a:avLst/>
          </a:prstGeom>
          <a:solidFill>
            <a:srgbClr val="2233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81234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58568" y="16184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54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237744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診断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04672" y="2788920"/>
            <a:ext cx="1975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業務を可視化し、AIで改善できる領域と優先順位を特定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054096" y="2331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4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419856" y="1417320"/>
            <a:ext cx="2487168" cy="2331720"/>
          </a:xfrm>
          <a:prstGeom prst="roundRect">
            <a:avLst>
              <a:gd name="adj" fmla="val 3137"/>
            </a:avLst>
          </a:prstGeom>
          <a:solidFill>
            <a:srgbClr val="F4F7FB"/>
          </a:solidFill>
          <a:ln/>
        </p:spPr>
      </p:sp>
      <p:sp>
        <p:nvSpPr>
          <p:cNvPr id="12" name="Shape 9"/>
          <p:cNvSpPr/>
          <p:nvPr/>
        </p:nvSpPr>
        <p:spPr>
          <a:xfrm>
            <a:off x="3648456" y="1645920"/>
            <a:ext cx="594360" cy="594360"/>
          </a:xfrm>
          <a:prstGeom prst="ellipse">
            <a:avLst/>
          </a:prstGeom>
          <a:solidFill>
            <a:srgbClr val="22335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877" y="1812341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29784" y="16184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54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675888" y="237744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675888" y="2788920"/>
            <a:ext cx="1975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改善施策・ツール選定・新しい業務フローを設計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925312" y="2331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4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6291072" y="1417320"/>
            <a:ext cx="2487168" cy="2331720"/>
          </a:xfrm>
          <a:prstGeom prst="roundRect">
            <a:avLst>
              <a:gd name="adj" fmla="val 3137"/>
            </a:avLst>
          </a:prstGeom>
          <a:solidFill>
            <a:srgbClr val="F4F7FB"/>
          </a:solidFill>
          <a:ln/>
        </p:spPr>
      </p:sp>
      <p:sp>
        <p:nvSpPr>
          <p:cNvPr id="19" name="Shape 15"/>
          <p:cNvSpPr/>
          <p:nvPr/>
        </p:nvSpPr>
        <p:spPr>
          <a:xfrm>
            <a:off x="6519672" y="1645920"/>
            <a:ext cx="594360" cy="594360"/>
          </a:xfrm>
          <a:prstGeom prst="ellipse">
            <a:avLst/>
          </a:prstGeom>
          <a:solidFill>
            <a:srgbClr val="22335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093" y="1812341"/>
            <a:ext cx="261518" cy="26151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01000" y="16184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54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547104" y="237744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6547104" y="2788920"/>
            <a:ext cx="1975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生成AI・自動化ツール・エージェントを実装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796528" y="2331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4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9162288" y="1417320"/>
            <a:ext cx="2487168" cy="2331720"/>
          </a:xfrm>
          <a:prstGeom prst="roundRect">
            <a:avLst>
              <a:gd name="adj" fmla="val 3137"/>
            </a:avLst>
          </a:prstGeom>
          <a:solidFill>
            <a:srgbClr val="F4F7FB"/>
          </a:solidFill>
          <a:ln/>
        </p:spPr>
      </p:sp>
      <p:sp>
        <p:nvSpPr>
          <p:cNvPr id="26" name="Shape 21"/>
          <p:cNvSpPr/>
          <p:nvPr/>
        </p:nvSpPr>
        <p:spPr>
          <a:xfrm>
            <a:off x="9390888" y="1645920"/>
            <a:ext cx="594360" cy="594360"/>
          </a:xfrm>
          <a:prstGeom prst="ellipse">
            <a:avLst/>
          </a:prstGeom>
          <a:solidFill>
            <a:srgbClr val="E8543F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7309" y="1812341"/>
            <a:ext cx="261518" cy="26151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872216" y="16184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54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9418320" y="237744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定着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9418320" y="2788920"/>
            <a:ext cx="1975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教育・運用ルール・伴走支援で現場に定着させる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548640" y="41605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効果は、必ず数字で。</a:t>
            </a:r>
            <a:endParaRPr lang="en-US" sz="1800" dirty="0"/>
          </a:p>
        </p:txBody>
      </p:sp>
      <p:sp>
        <p:nvSpPr>
          <p:cNvPr id="32" name="Text 26"/>
          <p:cNvSpPr/>
          <p:nvPr/>
        </p:nvSpPr>
        <p:spPr>
          <a:xfrm>
            <a:off x="548640" y="4663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すべての施策で Before / After を測定し、改善効果をレポートでご報告します。</a:t>
            </a:r>
            <a:endParaRPr lang="en-US" sz="1250" dirty="0"/>
          </a:p>
        </p:txBody>
      </p:sp>
      <p:sp>
        <p:nvSpPr>
          <p:cNvPr id="33" name="Shape 27"/>
          <p:cNvSpPr/>
          <p:nvPr/>
        </p:nvSpPr>
        <p:spPr>
          <a:xfrm>
            <a:off x="548640" y="525780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FDEDE9"/>
          </a:solidFill>
          <a:ln/>
        </p:spPr>
      </p:sp>
      <p:sp>
        <p:nvSpPr>
          <p:cNvPr id="34" name="Text 28"/>
          <p:cNvSpPr/>
          <p:nvPr/>
        </p:nvSpPr>
        <p:spPr>
          <a:xfrm>
            <a:off x="685800" y="52578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4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</a:t>
            </a:r>
            <a:pPr indent="0" marL="0">
              <a:buNone/>
            </a:pPr>
            <a:r>
              <a:rPr lang="en-US" sz="1150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｜作業時間・月間削減時間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3346704" y="525780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FDEDE9"/>
          </a:solidFill>
          <a:ln/>
        </p:spPr>
      </p:sp>
      <p:sp>
        <p:nvSpPr>
          <p:cNvPr id="36" name="Text 30"/>
          <p:cNvSpPr/>
          <p:nvPr/>
        </p:nvSpPr>
        <p:spPr>
          <a:xfrm>
            <a:off x="3483864" y="52578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4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コスト</a:t>
            </a:r>
            <a:pPr indent="0" marL="0">
              <a:buNone/>
            </a:pPr>
            <a:r>
              <a:rPr lang="en-US" sz="1150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｜人件費換算・外注費削減</a:t>
            </a:r>
            <a:endParaRPr lang="en-US" sz="1150" dirty="0"/>
          </a:p>
        </p:txBody>
      </p:sp>
      <p:sp>
        <p:nvSpPr>
          <p:cNvPr id="37" name="Shape 31"/>
          <p:cNvSpPr/>
          <p:nvPr/>
        </p:nvSpPr>
        <p:spPr>
          <a:xfrm>
            <a:off x="6144768" y="525780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FDEDE9"/>
          </a:solidFill>
          <a:ln/>
        </p:spPr>
      </p:sp>
      <p:sp>
        <p:nvSpPr>
          <p:cNvPr id="38" name="Text 32"/>
          <p:cNvSpPr/>
          <p:nvPr/>
        </p:nvSpPr>
        <p:spPr>
          <a:xfrm>
            <a:off x="6281928" y="52578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4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</a:t>
            </a:r>
            <a:pPr indent="0" marL="0">
              <a:buNone/>
            </a:pPr>
            <a:r>
              <a:rPr lang="en-US" sz="1150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｜エラー率・手戻り件数</a:t>
            </a:r>
            <a:endParaRPr lang="en-US" sz="1150" dirty="0"/>
          </a:p>
        </p:txBody>
      </p:sp>
      <p:sp>
        <p:nvSpPr>
          <p:cNvPr id="39" name="Shape 33"/>
          <p:cNvSpPr/>
          <p:nvPr/>
        </p:nvSpPr>
        <p:spPr>
          <a:xfrm>
            <a:off x="8942832" y="525780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FDEDE9"/>
          </a:solidFill>
          <a:ln/>
        </p:spPr>
      </p:sp>
      <p:sp>
        <p:nvSpPr>
          <p:cNvPr id="40" name="Text 34"/>
          <p:cNvSpPr/>
          <p:nvPr/>
        </p:nvSpPr>
        <p:spPr>
          <a:xfrm>
            <a:off x="9079992" y="52578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4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量</a:t>
            </a:r>
            <a:pPr indent="0" marL="0">
              <a:buNone/>
            </a:pPr>
            <a:r>
              <a:rPr lang="en-US" sz="1150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｜処理件数・対応キャパ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サービス一覧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課題に合わせて、単体でも組み合わせでもご提供します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601468" cy="2286000"/>
          </a:xfrm>
          <a:prstGeom prst="roundRect">
            <a:avLst>
              <a:gd name="adj" fmla="val 3200"/>
            </a:avLst>
          </a:prstGeom>
          <a:solidFill>
            <a:srgbClr val="F4F7FB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527048"/>
            <a:ext cx="548640" cy="548640"/>
          </a:xfrm>
          <a:prstGeom prst="ellipse">
            <a:avLst/>
          </a:prstGeom>
          <a:solidFill>
            <a:srgbClr val="2233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427" y="1680667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2194560"/>
            <a:ext cx="21625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生成AI導入支援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68096" y="2807208"/>
            <a:ext cx="21625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利用ルール整備と現場ユースケース設計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78708" y="1325880"/>
            <a:ext cx="2601468" cy="2286000"/>
          </a:xfrm>
          <a:prstGeom prst="roundRect">
            <a:avLst>
              <a:gd name="adj" fmla="val 3200"/>
            </a:avLst>
          </a:prstGeom>
          <a:solidFill>
            <a:srgbClr val="F4F7FB"/>
          </a:solidFill>
          <a:ln/>
        </p:spPr>
      </p:sp>
      <p:sp>
        <p:nvSpPr>
          <p:cNvPr id="10" name="Shape 7"/>
          <p:cNvSpPr/>
          <p:nvPr/>
        </p:nvSpPr>
        <p:spPr>
          <a:xfrm>
            <a:off x="3579876" y="1527048"/>
            <a:ext cx="548640" cy="548640"/>
          </a:xfrm>
          <a:prstGeom prst="ellipse">
            <a:avLst/>
          </a:prstGeom>
          <a:solidFill>
            <a:srgbClr val="22335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495" y="1680667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8164" y="2194560"/>
            <a:ext cx="21625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業務自動化・AIエージェント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598164" y="2807208"/>
            <a:ext cx="21625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定型作業を自動化し、工数を大幅削減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08776" y="1325880"/>
            <a:ext cx="2601468" cy="2286000"/>
          </a:xfrm>
          <a:prstGeom prst="roundRect">
            <a:avLst>
              <a:gd name="adj" fmla="val 3200"/>
            </a:avLst>
          </a:prstGeom>
          <a:solidFill>
            <a:srgbClr val="F4F7FB"/>
          </a:solidFill>
          <a:ln/>
        </p:spPr>
      </p:sp>
      <p:sp>
        <p:nvSpPr>
          <p:cNvPr id="15" name="Shape 11"/>
          <p:cNvSpPr/>
          <p:nvPr/>
        </p:nvSpPr>
        <p:spPr>
          <a:xfrm>
            <a:off x="6409944" y="1527048"/>
            <a:ext cx="548640" cy="548640"/>
          </a:xfrm>
          <a:prstGeom prst="ellipse">
            <a:avLst/>
          </a:prstGeom>
          <a:solidFill>
            <a:srgbClr val="22335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563" y="1680667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28232" y="2194560"/>
            <a:ext cx="21625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ドキュメント自動生成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428232" y="2807208"/>
            <a:ext cx="21625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議事録・報告書・提案書の作成を高速化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38844" y="1325880"/>
            <a:ext cx="2601468" cy="2286000"/>
          </a:xfrm>
          <a:prstGeom prst="roundRect">
            <a:avLst>
              <a:gd name="adj" fmla="val 3200"/>
            </a:avLst>
          </a:prstGeom>
          <a:solidFill>
            <a:srgbClr val="F4F7FB"/>
          </a:solidFill>
          <a:ln/>
        </p:spPr>
      </p:sp>
      <p:sp>
        <p:nvSpPr>
          <p:cNvPr id="20" name="Shape 15"/>
          <p:cNvSpPr/>
          <p:nvPr/>
        </p:nvSpPr>
        <p:spPr>
          <a:xfrm>
            <a:off x="9240012" y="1527048"/>
            <a:ext cx="548640" cy="548640"/>
          </a:xfrm>
          <a:prstGeom prst="ellipse">
            <a:avLst/>
          </a:prstGeom>
          <a:solidFill>
            <a:srgbClr val="22335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3631" y="1680667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58300" y="2194560"/>
            <a:ext cx="21625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データ分析・可視化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258300" y="2807208"/>
            <a:ext cx="21625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意思決定に使える数字とダッシュボード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3813048"/>
            <a:ext cx="2601468" cy="2286000"/>
          </a:xfrm>
          <a:prstGeom prst="roundRect">
            <a:avLst>
              <a:gd name="adj" fmla="val 3200"/>
            </a:avLst>
          </a:prstGeom>
          <a:solidFill>
            <a:srgbClr val="F4F7FB"/>
          </a:solidFill>
          <a:ln/>
        </p:spPr>
      </p:sp>
      <p:sp>
        <p:nvSpPr>
          <p:cNvPr id="25" name="Shape 19"/>
          <p:cNvSpPr/>
          <p:nvPr/>
        </p:nvSpPr>
        <p:spPr>
          <a:xfrm>
            <a:off x="749808" y="4014216"/>
            <a:ext cx="548640" cy="548640"/>
          </a:xfrm>
          <a:prstGeom prst="ellipse">
            <a:avLst/>
          </a:prstGeom>
          <a:solidFill>
            <a:srgbClr val="22335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427" y="4167835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68096" y="4681728"/>
            <a:ext cx="21625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社内ナレッジ検索（RAG）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768096" y="5294376"/>
            <a:ext cx="21625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散らばる社内情報を “探せる資産” に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3378708" y="3813048"/>
            <a:ext cx="2601468" cy="2286000"/>
          </a:xfrm>
          <a:prstGeom prst="roundRect">
            <a:avLst>
              <a:gd name="adj" fmla="val 3200"/>
            </a:avLst>
          </a:prstGeom>
          <a:solidFill>
            <a:srgbClr val="F4F7FB"/>
          </a:solidFill>
          <a:ln/>
        </p:spPr>
      </p:sp>
      <p:sp>
        <p:nvSpPr>
          <p:cNvPr id="30" name="Shape 23"/>
          <p:cNvSpPr/>
          <p:nvPr/>
        </p:nvSpPr>
        <p:spPr>
          <a:xfrm>
            <a:off x="3579876" y="4014216"/>
            <a:ext cx="548640" cy="548640"/>
          </a:xfrm>
          <a:prstGeom prst="ellipse">
            <a:avLst/>
          </a:prstGeom>
          <a:solidFill>
            <a:srgbClr val="22335C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3495" y="4167835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98164" y="4681728"/>
            <a:ext cx="21625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サポート業務効率化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3598164" y="5294376"/>
            <a:ext cx="21625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AIチャットボットで一次対応を自動化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208776" y="3813048"/>
            <a:ext cx="2601468" cy="2286000"/>
          </a:xfrm>
          <a:prstGeom prst="roundRect">
            <a:avLst>
              <a:gd name="adj" fmla="val 3200"/>
            </a:avLst>
          </a:prstGeom>
          <a:solidFill>
            <a:srgbClr val="F4F7FB"/>
          </a:solidFill>
          <a:ln/>
        </p:spPr>
      </p:sp>
      <p:sp>
        <p:nvSpPr>
          <p:cNvPr id="35" name="Shape 27"/>
          <p:cNvSpPr/>
          <p:nvPr/>
        </p:nvSpPr>
        <p:spPr>
          <a:xfrm>
            <a:off x="6409944" y="4014216"/>
            <a:ext cx="548640" cy="548640"/>
          </a:xfrm>
          <a:prstGeom prst="ellipse">
            <a:avLst/>
          </a:prstGeom>
          <a:solidFill>
            <a:srgbClr val="22335C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3563" y="4167835"/>
            <a:ext cx="241402" cy="24140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428232" y="4681728"/>
            <a:ext cx="21625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AI研修・内製化支援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6428232" y="5294376"/>
            <a:ext cx="21625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自走できる人材と推進体制づくり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9038844" y="3813048"/>
            <a:ext cx="2601468" cy="2286000"/>
          </a:xfrm>
          <a:prstGeom prst="roundRect">
            <a:avLst>
              <a:gd name="adj" fmla="val 3200"/>
            </a:avLst>
          </a:prstGeom>
          <a:solidFill>
            <a:srgbClr val="FDEDE9"/>
          </a:solidFill>
          <a:ln/>
        </p:spPr>
      </p:sp>
      <p:sp>
        <p:nvSpPr>
          <p:cNvPr id="40" name="Shape 31"/>
          <p:cNvSpPr/>
          <p:nvPr/>
        </p:nvSpPr>
        <p:spPr>
          <a:xfrm>
            <a:off x="9240012" y="4014216"/>
            <a:ext cx="548640" cy="548640"/>
          </a:xfrm>
          <a:prstGeom prst="ellipse">
            <a:avLst/>
          </a:prstGeom>
          <a:solidFill>
            <a:srgbClr val="E8543F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93631" y="4167835"/>
            <a:ext cx="241402" cy="24140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258300" y="4681728"/>
            <a:ext cx="21625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組み合わせは自由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9258300" y="5294376"/>
            <a:ext cx="21625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課題に合わせて最適な形をご提案します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料金と始め方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小さく始めて、成果を確認しながら広げられます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1468" cy="3200400"/>
          </a:xfrm>
          <a:prstGeom prst="roundRect">
            <a:avLst>
              <a:gd name="adj" fmla="val 2812"/>
            </a:avLst>
          </a:prstGeom>
          <a:solidFill>
            <a:srgbClr val="FDEDE9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1426464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E8543F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4264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おすすめの始め方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4672" y="1984248"/>
            <a:ext cx="20894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業務診断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04672" y="2514600"/>
            <a:ext cx="2089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54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20〜80万円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04672" y="3081528"/>
            <a:ext cx="20894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目安（税抜）／1回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4672" y="3520440"/>
            <a:ext cx="20894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現状分析＋改善提案レポート。まずはここから。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78708" y="1600200"/>
            <a:ext cx="2601468" cy="3200400"/>
          </a:xfrm>
          <a:prstGeom prst="roundRect">
            <a:avLst>
              <a:gd name="adj" fmla="val 2812"/>
            </a:avLst>
          </a:prstGeom>
          <a:solidFill>
            <a:srgbClr val="F4F7FB"/>
          </a:solidFill>
          <a:ln/>
        </p:spPr>
      </p:sp>
      <p:sp>
        <p:nvSpPr>
          <p:cNvPr id="12" name="Text 10"/>
          <p:cNvSpPr/>
          <p:nvPr/>
        </p:nvSpPr>
        <p:spPr>
          <a:xfrm>
            <a:off x="3634740" y="1984248"/>
            <a:ext cx="20894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プロジェクト型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634740" y="2514600"/>
            <a:ext cx="2089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30〜300万円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634740" y="3081528"/>
            <a:ext cx="20894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目安（税抜）／1件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34740" y="3520440"/>
            <a:ext cx="20894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特定業務の自動化・AI導入をスポットで実施。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08776" y="1600200"/>
            <a:ext cx="2601468" cy="3200400"/>
          </a:xfrm>
          <a:prstGeom prst="roundRect">
            <a:avLst>
              <a:gd name="adj" fmla="val 2812"/>
            </a:avLst>
          </a:prstGeom>
          <a:solidFill>
            <a:srgbClr val="F4F7FB"/>
          </a:solidFill>
          <a:ln/>
        </p:spPr>
      </p:sp>
      <p:sp>
        <p:nvSpPr>
          <p:cNvPr id="17" name="Text 15"/>
          <p:cNvSpPr/>
          <p:nvPr/>
        </p:nvSpPr>
        <p:spPr>
          <a:xfrm>
            <a:off x="6464808" y="1984248"/>
            <a:ext cx="20894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顧問契約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464808" y="2514600"/>
            <a:ext cx="2089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月15〜50万円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464808" y="3081528"/>
            <a:ext cx="20894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目安（税抜）／月額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64808" y="3520440"/>
            <a:ext cx="20894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継続的に改善を支援。社内のAI推進役として伴走。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38844" y="1600200"/>
            <a:ext cx="2601468" cy="3200400"/>
          </a:xfrm>
          <a:prstGeom prst="roundRect">
            <a:avLst>
              <a:gd name="adj" fmla="val 2812"/>
            </a:avLst>
          </a:prstGeom>
          <a:solidFill>
            <a:srgbClr val="F4F7FB"/>
          </a:solidFill>
          <a:ln/>
        </p:spPr>
      </p:sp>
      <p:sp>
        <p:nvSpPr>
          <p:cNvPr id="22" name="Text 20"/>
          <p:cNvSpPr/>
          <p:nvPr/>
        </p:nvSpPr>
        <p:spPr>
          <a:xfrm>
            <a:off x="9294876" y="1984248"/>
            <a:ext cx="20894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研修・ワークショップ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294876" y="2514600"/>
            <a:ext cx="2089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10〜50万円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294876" y="3081528"/>
            <a:ext cx="20894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目安（税抜）／1回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294876" y="3520440"/>
            <a:ext cx="20894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生成AI活用研修・プロンプト研修（半日〜1日）。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51206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診断 → プロジェクト → 顧問</a:t>
            </a:r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と段階的に。価格は範囲・規模により個別にお見積りします。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Kaizen AI が選ばれる理由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私たちの行動指針が、そのままお客様への約束です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437894" y="1645920"/>
            <a:ext cx="822960" cy="822960"/>
          </a:xfrm>
          <a:prstGeom prst="ellipse">
            <a:avLst/>
          </a:prstGeom>
          <a:solidFill>
            <a:srgbClr val="22335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323" y="1876349"/>
            <a:ext cx="362102" cy="362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651760"/>
            <a:ext cx="2601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現場ファースト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85800" y="3200400"/>
            <a:ext cx="23271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机上論ではなく、実際の業務フローに手を入れて成果を出します。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267962" y="1645920"/>
            <a:ext cx="822960" cy="822960"/>
          </a:xfrm>
          <a:prstGeom prst="ellipse">
            <a:avLst/>
          </a:prstGeom>
          <a:solidFill>
            <a:srgbClr val="E8543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391" y="1876349"/>
            <a:ext cx="362102" cy="3621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78708" y="2651760"/>
            <a:ext cx="2601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小さく速く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3515868" y="3200400"/>
            <a:ext cx="23271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大きな計画より、まず2週間で動くもの。高速で改善を回します。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098030" y="1645920"/>
            <a:ext cx="822960" cy="822960"/>
          </a:xfrm>
          <a:prstGeom prst="ellipse">
            <a:avLst/>
          </a:prstGeom>
          <a:solidFill>
            <a:srgbClr val="22335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8459" y="1876349"/>
            <a:ext cx="362102" cy="3621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08776" y="2651760"/>
            <a:ext cx="2601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内製化を助ける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6345936" y="3200400"/>
            <a:ext cx="23271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依存させない支援。お客様が自走できる状態がゴールです。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9928098" y="1645920"/>
            <a:ext cx="822960" cy="822960"/>
          </a:xfrm>
          <a:prstGeom prst="ellipse">
            <a:avLst/>
          </a:prstGeom>
          <a:solidFill>
            <a:srgbClr val="E8543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8527" y="1876349"/>
            <a:ext cx="362102" cy="36210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38844" y="2651760"/>
            <a:ext cx="2601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数字で語る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9176004" y="3200400"/>
            <a:ext cx="23271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削減時間・コスト・エラー率。効果は必ず定量で示します。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53949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4F7FB"/>
          </a:solidFill>
          <a:ln/>
        </p:spPr>
      </p:sp>
      <p:sp>
        <p:nvSpPr>
          <p:cNvPr id="21" name="Text 15"/>
          <p:cNvSpPr/>
          <p:nvPr/>
        </p:nvSpPr>
        <p:spPr>
          <a:xfrm>
            <a:off x="777240" y="53949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誠実なAI活用：</a:t>
            </a:r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過度な期待は煽りません。できること・できないことを正直にお伝えします。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ご依頼からの流れ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初回のご相談は無料です。お気軽にお問い合わせください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828800" y="3017520"/>
            <a:ext cx="7955280" cy="0"/>
          </a:xfrm>
          <a:prstGeom prst="line">
            <a:avLst/>
          </a:prstGeom>
          <a:noFill/>
          <a:ln w="31750">
            <a:solidFill>
              <a:srgbClr val="C9D8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44752" y="2633472"/>
            <a:ext cx="768096" cy="768096"/>
          </a:xfrm>
          <a:prstGeom prst="ellipse">
            <a:avLst/>
          </a:prstGeom>
          <a:solidFill>
            <a:srgbClr val="2233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9819" y="2848539"/>
            <a:ext cx="337962" cy="3379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6002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4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30352" y="192024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無料相談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594360" y="36118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困りごとを伺い、改善の方向性をその場でご提案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1188720" y="461772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/>
        </p:spPr>
      </p:sp>
      <p:sp>
        <p:nvSpPr>
          <p:cNvPr id="11" name="Text 8"/>
          <p:cNvSpPr/>
          <p:nvPr/>
        </p:nvSpPr>
        <p:spPr>
          <a:xfrm>
            <a:off x="1188720" y="46177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60分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096512" y="2633472"/>
            <a:ext cx="768096" cy="768096"/>
          </a:xfrm>
          <a:prstGeom prst="ellipse">
            <a:avLst/>
          </a:prstGeom>
          <a:solidFill>
            <a:srgbClr val="22335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579" y="2848539"/>
            <a:ext cx="337962" cy="3379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16002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4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182112" y="192024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業務診断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3246120" y="36118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現場ヒアリングと業務の可視化・改善マップ作成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3840480" y="461772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/>
        </p:spPr>
      </p:sp>
      <p:sp>
        <p:nvSpPr>
          <p:cNvPr id="18" name="Text 14"/>
          <p:cNvSpPr/>
          <p:nvPr/>
        </p:nvSpPr>
        <p:spPr>
          <a:xfrm>
            <a:off x="3840480" y="46177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2〜4週間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748272" y="2633472"/>
            <a:ext cx="768096" cy="768096"/>
          </a:xfrm>
          <a:prstGeom prst="ellipse">
            <a:avLst/>
          </a:prstGeom>
          <a:solidFill>
            <a:srgbClr val="22335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3339" y="2848539"/>
            <a:ext cx="337962" cy="33796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943600" y="16002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4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3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833872" y="192024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ご提案・お見積り</a:t>
            </a:r>
            <a:endParaRPr lang="en-US" sz="1650" dirty="0"/>
          </a:p>
        </p:txBody>
      </p:sp>
      <p:sp>
        <p:nvSpPr>
          <p:cNvPr id="23" name="Text 18"/>
          <p:cNvSpPr/>
          <p:nvPr/>
        </p:nvSpPr>
        <p:spPr>
          <a:xfrm>
            <a:off x="5897880" y="36118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施策・体制・効果目標をご提案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492240" y="461772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/>
        </p:spPr>
      </p:sp>
      <p:sp>
        <p:nvSpPr>
          <p:cNvPr id="25" name="Text 20"/>
          <p:cNvSpPr/>
          <p:nvPr/>
        </p:nvSpPr>
        <p:spPr>
          <a:xfrm>
            <a:off x="6492240" y="46177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約1週間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9400032" y="2633472"/>
            <a:ext cx="768096" cy="768096"/>
          </a:xfrm>
          <a:prstGeom prst="ellipse">
            <a:avLst/>
          </a:prstGeom>
          <a:solidFill>
            <a:srgbClr val="E8543F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5099" y="2848539"/>
            <a:ext cx="337962" cy="33796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595360" y="16002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4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4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8485632" y="192024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導入・伴走</a:t>
            </a:r>
            <a:endParaRPr lang="en-US" sz="1650" dirty="0"/>
          </a:p>
        </p:txBody>
      </p:sp>
      <p:sp>
        <p:nvSpPr>
          <p:cNvPr id="30" name="Text 24"/>
          <p:cNvSpPr/>
          <p:nvPr/>
        </p:nvSpPr>
        <p:spPr>
          <a:xfrm>
            <a:off x="8549640" y="36118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実装と定着支援。効果を測定しながら改善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9144000" y="461772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/>
        </p:spPr>
      </p:sp>
      <p:sp>
        <p:nvSpPr>
          <p:cNvPr id="32" name="Text 26"/>
          <p:cNvSpPr/>
          <p:nvPr/>
        </p:nvSpPr>
        <p:spPr>
          <a:xfrm>
            <a:off x="9144000" y="46177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継続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DEDE9"/>
          </a:solidFill>
          <a:ln/>
        </p:spPr>
      </p:sp>
      <p:sp>
        <p:nvSpPr>
          <p:cNvPr id="34" name="Text 28"/>
          <p:cNvSpPr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54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スピード重視：</a:t>
            </a:r>
            <a:pPr indent="0" marL="0">
              <a:buNone/>
            </a:pPr>
            <a:r>
              <a:rPr lang="en-US" sz="1350" dirty="0">
                <a:solidFill>
                  <a:srgbClr val="223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診断開始から約2週間で、最初の「動く改善」をお見せすることを目指します。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233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377440"/>
            <a:ext cx="5852160" cy="5852160"/>
          </a:xfrm>
          <a:prstGeom prst="ellipse">
            <a:avLst/>
          </a:prstGeom>
          <a:solidFill>
            <a:srgbClr val="22335C"/>
          </a:solidFill>
          <a:ln w="22225">
            <a:solidFill>
              <a:srgbClr val="3A4E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-1280160"/>
            <a:ext cx="3657600" cy="3657600"/>
          </a:xfrm>
          <a:prstGeom prst="ellipse">
            <a:avLst/>
          </a:prstGeom>
          <a:solidFill>
            <a:srgbClr val="22335C"/>
          </a:solidFill>
          <a:ln w="28575">
            <a:solidFill>
              <a:srgbClr val="E854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234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まずは、60分の無料相談から。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1945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9D8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現状の業務の困りごとを伺い、AIで改善できるポイントをその場でご提案します。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9D8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売り込みはいたしません。情報収集の段階でも歓迎です。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3520440"/>
            <a:ext cx="457200" cy="457200"/>
          </a:xfrm>
          <a:prstGeom prst="ellipse">
            <a:avLst/>
          </a:prstGeom>
          <a:solidFill>
            <a:srgbClr val="E8543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52728" y="3520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無料相談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017520" y="3520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8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29000" y="3520440"/>
            <a:ext cx="457200" cy="457200"/>
          </a:xfrm>
          <a:prstGeom prst="ellipse">
            <a:avLst/>
          </a:prstGeom>
          <a:solidFill>
            <a:srgbClr val="E8543F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95928" y="3520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簡易診断のご提案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760720" y="3520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8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200" y="3520440"/>
            <a:ext cx="457200" cy="457200"/>
          </a:xfrm>
          <a:prstGeom prst="ellipse">
            <a:avLst/>
          </a:prstGeom>
          <a:solidFill>
            <a:srgbClr val="E8543F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39128" y="3520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お見積り・開始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4572000"/>
            <a:ext cx="7498080" cy="1234440"/>
          </a:xfrm>
          <a:prstGeom prst="roundRect">
            <a:avLst>
              <a:gd name="adj" fmla="val 7407"/>
            </a:avLst>
          </a:prstGeom>
          <a:solidFill>
            <a:srgbClr val="2C3E6B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754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お問い合わせ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5166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8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メール・Webサイト：（設立手続き完了後に記載）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692640" y="5989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Kaizen AI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Kaizen AI 会社紹介</dc:title>
  <dc:subject>PptxGenJS Presentation</dc:subject>
  <dc:creator>Kaizen AI</dc:creator>
  <cp:lastModifiedBy>Kaizen AI</cp:lastModifiedBy>
  <cp:revision>1</cp:revision>
  <dcterms:created xsi:type="dcterms:W3CDTF">2026-08-03T01:20:14Z</dcterms:created>
  <dcterms:modified xsi:type="dcterms:W3CDTF">2026-08-03T01:20:14Z</dcterms:modified>
</cp:coreProperties>
</file>